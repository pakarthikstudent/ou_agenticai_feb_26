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99" r:id="rId6"/>
    <p:sldId id="302" r:id="rId7"/>
    <p:sldId id="300" r:id="rId8"/>
    <p:sldId id="260" r:id="rId9"/>
    <p:sldId id="261" r:id="rId10"/>
    <p:sldId id="262" r:id="rId11"/>
    <p:sldId id="263" r:id="rId12"/>
    <p:sldId id="301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2" r:id="rId31"/>
    <p:sldId id="283" r:id="rId32"/>
    <p:sldId id="281" r:id="rId33"/>
    <p:sldId id="284" r:id="rId34"/>
    <p:sldId id="286" r:id="rId35"/>
    <p:sldId id="285" r:id="rId36"/>
    <p:sldId id="287" r:id="rId37"/>
    <p:sldId id="288" r:id="rId38"/>
    <p:sldId id="289" r:id="rId39"/>
    <p:sldId id="290" r:id="rId40"/>
    <p:sldId id="298" r:id="rId41"/>
    <p:sldId id="297" r:id="rId42"/>
    <p:sldId id="29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7D8F-DB51-1222-BE88-7883734CD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00970B-84D6-D79D-607C-56FF47368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9A266-DBBE-25CD-C022-74F6C9008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2E29B-359E-4CE2-AC8E-8414A3339D9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5F4D5-F5C6-6F1B-BE92-0408999A1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070B1-545A-E85A-EE9E-D9057D2A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FE1A-8F3F-45C6-A475-5E4B98FF7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972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18EF2-B84F-6B6E-A05F-E7233FEA3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7E346-1187-D024-6D78-187C78736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ED075-6C87-E9F1-E6CD-DA4754F35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2E29B-359E-4CE2-AC8E-8414A3339D9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D270E-2051-5317-C1E5-E0E0863D0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C2D9C-7900-83EA-57F2-459898391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FE1A-8F3F-45C6-A475-5E4B98FF7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936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7B821-FBE9-3CCC-D6A4-A46045B8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55A50-6833-2293-DDD9-FD755B60D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37D91-0DED-7968-84A3-8E8FD751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2E29B-359E-4CE2-AC8E-8414A3339D9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C4A12-E08B-3211-21C6-A2073CE25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670AB-D18F-54BD-68AA-F0F253A22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FE1A-8F3F-45C6-A475-5E4B98FF7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415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0BC5A-73BA-FD19-ED2A-453DF3C1C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4E8F2-8365-622F-86C4-59D9ABF19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C6BF2-2009-FE56-AC3C-5781DAFE5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71B7D-BAEE-FFA0-85DC-F4EA7941F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2E29B-359E-4CE2-AC8E-8414A3339D9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CD167-D3F2-E455-7A0C-0C0F7C75C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CD8754-6645-E3B5-0393-402E678B3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FE1A-8F3F-45C6-A475-5E4B98FF7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675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3F5D4-DC56-7B02-96AB-14F7B81D2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00652-56CE-C63D-54D7-A98C00F9C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C94DE-FFD4-2CE8-5789-1FC472D0A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6A0E7-3DCD-D760-CFC8-FD00CEAF53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644ADE-5CC8-71B5-EED7-233DFEF127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00DE9B-D2CA-367B-FB6E-9B296D234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2E29B-359E-4CE2-AC8E-8414A3339D9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A01765-0490-0904-86FA-1B238399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A1E3A6-A6CB-7D84-4FCA-35EADCB9A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FE1A-8F3F-45C6-A475-5E4B98FF7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086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4E4F3-BCB3-3B93-B3B8-1909B5AE4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10FE4B-0F79-CD75-21AC-97F7C8582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2E29B-359E-4CE2-AC8E-8414A3339D9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92FB9C-EBDB-F98D-2CA8-4297BC139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0515AA-9288-8ECA-DEE9-40BC080DB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FE1A-8F3F-45C6-A475-5E4B98FF7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863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A21D1F-C064-FB86-3F4F-BF408ABAF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2E29B-359E-4CE2-AC8E-8414A3339D9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BB485-3448-A699-7FF8-DBD324E7E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F8BB9-F584-88CA-3F22-36E01AA2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FE1A-8F3F-45C6-A475-5E4B98FF7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008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EF14B-674A-BC73-F2DA-00DBFEDBC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64A87-9390-4184-A14A-FAA27EB3D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A5E766-1675-047A-BDEC-0741324BD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08D96-028C-68CD-C243-D5041945E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2E29B-359E-4CE2-AC8E-8414A3339D9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F1E2F-3EB3-788E-BBB1-DF58CA14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7D1B3-2552-42BF-C347-E0C816F20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FE1A-8F3F-45C6-A475-5E4B98FF7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574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97622-49E4-F7DA-ED64-1D79F18F8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84357-E527-4B94-5870-356EF65FC0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12B7D-566A-08ED-3515-1C623AC1A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698F4-870A-63BA-9C87-21973EA22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2E29B-359E-4CE2-AC8E-8414A3339D9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4D2B3-BBFB-C5AE-7044-0779C697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A1588-6C7E-F50E-A909-D6F3C659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FE1A-8F3F-45C6-A475-5E4B98FF7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6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839DD-0019-FDCB-B831-D4CDDBCE1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2BFBD-34D5-FB23-2A1F-993210481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9CB81-99EB-C22B-B27E-2DA97E29C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2E29B-359E-4CE2-AC8E-8414A3339D9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8908F-3B99-8164-B61A-DE44E9988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763DD-228B-C4A6-DE91-22E346A4E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FE1A-8F3F-45C6-A475-5E4B98FF7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16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4128D0-CB5E-2993-755D-D9131DF3BE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C3AF65-90E9-2051-2015-F99DDC6B5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48303-4BE8-A945-8FA8-C73285DBA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2E29B-359E-4CE2-AC8E-8414A3339D9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98991-2DBC-D3ED-8DFF-6E0E2E2DA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DB178-04C7-0DCA-C688-B630CD951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FE1A-8F3F-45C6-A475-5E4B98FF7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972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0013D1-9959-484E-2332-6125B7403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637AB-A3C0-7FCE-9281-1D4300BF6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26EC0-7338-8E83-B902-7F5A0BDFCE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2E29B-359E-4CE2-AC8E-8414A3339D9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88F6A-E3D5-C2F1-4594-B46FB5876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45A6B-2E50-27F4-C2C5-D22EBEC33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2FE1A-8F3F-45C6-A475-5E4B98FF7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050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C1AD4-7057-1B47-B39F-B4B2A3FB0D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Agentic AI</a:t>
            </a:r>
          </a:p>
        </p:txBody>
      </p:sp>
    </p:spTree>
    <p:extLst>
      <p:ext uri="{BB962C8B-B14F-4D97-AF65-F5344CB8AC3E}">
        <p14:creationId xmlns:p14="http://schemas.microsoft.com/office/powerpoint/2010/main" val="3954402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8941D-E49F-006D-C34B-3FBFC8760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What We'll Cover Today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910FB-66AF-8842-F7DC-DD73E46A8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Foundations of Agentic AI</a:t>
            </a:r>
          </a:p>
          <a:p>
            <a:r>
              <a:rPr lang="en-US" dirty="0"/>
              <a:t>Understanding what makes AI "agentic"</a:t>
            </a:r>
          </a:p>
          <a:p>
            <a:r>
              <a:rPr lang="en-US" dirty="0"/>
              <a:t>LLM vs Agent: Key differences</a:t>
            </a:r>
          </a:p>
          <a:p>
            <a:r>
              <a:rPr lang="en-US" dirty="0"/>
              <a:t>Reasoning loops, action loops, and autonomy</a:t>
            </a:r>
          </a:p>
          <a:p>
            <a:r>
              <a:rPr lang="en-US" dirty="0"/>
              <a:t>Agents vs Chatbots vs RAG systems</a:t>
            </a:r>
          </a:p>
          <a:p>
            <a:r>
              <a:rPr lang="en-US" dirty="0"/>
              <a:t>Agentic AI Architectures</a:t>
            </a:r>
          </a:p>
          <a:p>
            <a:r>
              <a:rPr lang="en-US" dirty="0"/>
              <a:t>Hands-on: Building a Calculator Agent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934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0424D-F7CB-93D7-E45A-30274358D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103437"/>
            <a:ext cx="10515600" cy="1325563"/>
          </a:xfrm>
        </p:spPr>
        <p:txBody>
          <a:bodyPr/>
          <a:lstStyle/>
          <a:p>
            <a:r>
              <a:rPr lang="en-US" b="1" dirty="0"/>
              <a:t>Part 1: Foundations of Agentic AI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829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524F5-2020-5B6B-AD35-406ED1BC8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Agentic 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814C6-0166-B2B4-4D47-BA027C5A4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Agentic AI refers to AI systems that can:</a:t>
            </a:r>
          </a:p>
          <a:p>
            <a:r>
              <a:rPr lang="en-US" dirty="0"/>
              <a:t>Act autonomously toward goals</a:t>
            </a:r>
          </a:p>
          <a:p>
            <a:r>
              <a:rPr lang="en-US" dirty="0"/>
              <a:t>Make decisions without constant human intervention</a:t>
            </a:r>
          </a:p>
          <a:p>
            <a:r>
              <a:rPr lang="en-US" dirty="0"/>
              <a:t>Perceive their environment and take actions</a:t>
            </a:r>
          </a:p>
          <a:p>
            <a:r>
              <a:rPr lang="en-US" dirty="0"/>
              <a:t>Learn and adapt from outcomes</a:t>
            </a:r>
          </a:p>
          <a:p>
            <a:r>
              <a:rPr lang="en-US" dirty="0"/>
              <a:t>Break down complex tasks into manageable steps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4125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AF642-F430-6C38-1353-699DAEBD4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Characteristics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2FD26-F30A-0FB2-C1F9-0B7C893B8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Autonomy</a:t>
            </a:r>
          </a:p>
          <a:p>
            <a:r>
              <a:rPr lang="en-US" dirty="0"/>
              <a:t>Goal-Oriented</a:t>
            </a:r>
          </a:p>
          <a:p>
            <a:r>
              <a:rPr lang="en-US" dirty="0"/>
              <a:t>Adaptability</a:t>
            </a:r>
          </a:p>
          <a:p>
            <a:r>
              <a:rPr lang="en-US" dirty="0"/>
              <a:t>Contextual awareness</a:t>
            </a:r>
          </a:p>
          <a:p>
            <a:r>
              <a:rPr lang="en-US" dirty="0"/>
              <a:t>Action-oriented </a:t>
            </a:r>
          </a:p>
          <a:p>
            <a:r>
              <a:rPr lang="en-US" dirty="0"/>
              <a:t>Self-improving</a:t>
            </a:r>
          </a:p>
          <a:p>
            <a:r>
              <a:rPr lang="en-US" dirty="0"/>
              <a:t>Collaboration</a:t>
            </a:r>
          </a:p>
          <a:p>
            <a:r>
              <a:rPr lang="en-US" dirty="0"/>
              <a:t>Tool Utilization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0603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E76D7-F71D-162C-FBDD-801201EB5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8419"/>
          </a:xfrm>
        </p:spPr>
        <p:txBody>
          <a:bodyPr>
            <a:normAutofit fontScale="90000"/>
          </a:bodyPr>
          <a:lstStyle/>
          <a:p>
            <a:r>
              <a:rPr lang="en-IN" dirty="0"/>
              <a:t>Core Agentic AI Terms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BD5F6A-8C48-A57C-0DAC-08EF9EF0C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6699"/>
              </p:ext>
            </p:extLst>
          </p:nvPr>
        </p:nvGraphicFramePr>
        <p:xfrm>
          <a:off x="838200" y="704088"/>
          <a:ext cx="9167206" cy="5449824"/>
        </p:xfrm>
        <a:graphic>
          <a:graphicData uri="http://schemas.openxmlformats.org/drawingml/2006/table">
            <a:tbl>
              <a:tblPr/>
              <a:tblGrid>
                <a:gridCol w="4583603">
                  <a:extLst>
                    <a:ext uri="{9D8B030D-6E8A-4147-A177-3AD203B41FA5}">
                      <a16:colId xmlns:a16="http://schemas.microsoft.com/office/drawing/2014/main" val="3384711622"/>
                    </a:ext>
                  </a:extLst>
                </a:gridCol>
                <a:gridCol w="4583603">
                  <a:extLst>
                    <a:ext uri="{9D8B030D-6E8A-4147-A177-3AD203B41FA5}">
                      <a16:colId xmlns:a16="http://schemas.microsoft.com/office/drawing/2014/main" val="4035466846"/>
                    </a:ext>
                  </a:extLst>
                </a:gridCol>
              </a:tblGrid>
              <a:tr h="34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Term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Where it appears in workflow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44845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Goal</a:t>
                      </a:r>
                      <a:endParaRPr lang="en-IN" sz="1300" dirty="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Start (User/Goal)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803868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Perception</a:t>
                      </a:r>
                      <a:endParaRPr lang="en-IN" sz="13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Collect inputs, context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726923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Context</a:t>
                      </a:r>
                      <a:endParaRPr lang="en-IN" sz="13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Used in reasoning &amp; planning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596959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Reasoning Loop</a:t>
                      </a:r>
                      <a:endParaRPr lang="en-IN" sz="13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Think → Act → Observe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517405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Planning</a:t>
                      </a:r>
                      <a:endParaRPr lang="en-IN" sz="1300" dirty="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Task decomposition + sequencing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350948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Task Decomposition</a:t>
                      </a:r>
                      <a:endParaRPr lang="en-IN" sz="13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Inside planning stage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873992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solidFill>
                            <a:srgbClr val="00B050"/>
                          </a:solidFill>
                        </a:rPr>
                        <a:t>Tool Calling</a:t>
                      </a:r>
                      <a:endParaRPr lang="en-IN" sz="1300" dirty="0">
                        <a:solidFill>
                          <a:srgbClr val="00B050"/>
                        </a:solidFill>
                      </a:endParaRP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00B050"/>
                          </a:solidFill>
                        </a:rPr>
                        <a:t>Tool selection stage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659439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solidFill>
                            <a:srgbClr val="00B050"/>
                          </a:solidFill>
                        </a:rPr>
                        <a:t>Execution</a:t>
                      </a:r>
                      <a:endParaRPr lang="en-IN" sz="1300" dirty="0">
                        <a:solidFill>
                          <a:srgbClr val="00B050"/>
                        </a:solidFill>
                      </a:endParaRP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solidFill>
                            <a:srgbClr val="00B050"/>
                          </a:solidFill>
                        </a:rPr>
                        <a:t>Tool execution stage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670545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solidFill>
                            <a:srgbClr val="00B050"/>
                          </a:solidFill>
                        </a:rPr>
                        <a:t>Observation</a:t>
                      </a:r>
                      <a:endParaRPr lang="en-IN" sz="1300" dirty="0">
                        <a:solidFill>
                          <a:srgbClr val="00B050"/>
                        </a:solidFill>
                      </a:endParaRP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solidFill>
                            <a:srgbClr val="00B050"/>
                          </a:solidFill>
                        </a:rPr>
                        <a:t>Tool output stage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78672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Reflection</a:t>
                      </a:r>
                      <a:endParaRPr lang="en-IN" sz="13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Validation stage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764533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Retry / Self-correction</a:t>
                      </a:r>
                      <a:endParaRPr lang="en-IN" sz="13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Replan stage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440421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Memory</a:t>
                      </a:r>
                      <a:endParaRPr lang="en-IN" sz="13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Supports perception + context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272644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Guardrails</a:t>
                      </a:r>
                      <a:endParaRPr lang="en-IN" sz="13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Always active across workflow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958480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Environment</a:t>
                      </a:r>
                      <a:endParaRPr lang="en-IN" sz="13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Tools + external systems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575072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Multi-agent</a:t>
                      </a:r>
                      <a:endParaRPr lang="en-IN" sz="13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Many such loops cooperating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683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344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956C6-A28E-ED81-B7F9-FED814CF2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12" y="136525"/>
            <a:ext cx="10515600" cy="302387"/>
          </a:xfrm>
        </p:spPr>
        <p:txBody>
          <a:bodyPr>
            <a:noAutofit/>
          </a:bodyPr>
          <a:lstStyle/>
          <a:p>
            <a:r>
              <a:rPr lang="en-US" sz="3600" b="1" dirty="0"/>
              <a:t>Agentic Workflow </a:t>
            </a:r>
            <a:endParaRPr lang="en-IN"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0A9D72-B58F-2A61-E737-143FE37BD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23084"/>
            <a:ext cx="11649456" cy="595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310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1A7F3-F72C-57DC-2BAB-E7A5B1BD2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Evolution to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BEC7F-ED92-980B-0F56-D2E780F8F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From Static to Agentic</a:t>
            </a:r>
          </a:p>
          <a:p>
            <a:r>
              <a:rPr lang="en-US" b="1" dirty="0"/>
              <a:t>Traditional AI/ML</a:t>
            </a:r>
            <a:endParaRPr lang="en-US" dirty="0"/>
          </a:p>
          <a:p>
            <a:r>
              <a:rPr lang="en-US" dirty="0"/>
              <a:t>Fixed input → Fixed output</a:t>
            </a:r>
          </a:p>
          <a:p>
            <a:r>
              <a:rPr lang="en-US" dirty="0"/>
              <a:t>No decision-making</a:t>
            </a:r>
          </a:p>
          <a:p>
            <a:r>
              <a:rPr lang="en-US" dirty="0"/>
              <a:t>Task-specific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9072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C2B51-ACA5-F3F0-0CF1-27DBECDA8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0BAF7-9BBF-8FD4-05D5-76B32539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Evolution to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CB98F-3B0A-064E-81E0-5D4C66661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LLMs (Large Language Models)</a:t>
            </a:r>
            <a:endParaRPr lang="en-US" dirty="0"/>
          </a:p>
          <a:p>
            <a:r>
              <a:rPr lang="en-US" dirty="0"/>
              <a:t>Natural language understanding</a:t>
            </a:r>
          </a:p>
          <a:p>
            <a:r>
              <a:rPr lang="en-US" dirty="0"/>
              <a:t>Generation capabilities</a:t>
            </a:r>
          </a:p>
          <a:p>
            <a:r>
              <a:rPr lang="en-US" dirty="0"/>
              <a:t>Still reactive (prompt → response)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3841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1A75E-8F0D-2075-4AFD-D366793C8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1AA12-643F-54CF-5D0D-D903E37B2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Evolution to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509F2-DE11-8F30-2258-432E9EA89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Agentic AI</a:t>
            </a:r>
            <a:endParaRPr lang="en-US" dirty="0"/>
          </a:p>
          <a:p>
            <a:r>
              <a:rPr lang="en-US" dirty="0"/>
              <a:t>Goal-oriented behavior</a:t>
            </a:r>
          </a:p>
          <a:p>
            <a:r>
              <a:rPr lang="en-US" dirty="0"/>
              <a:t>Multi-step reasoning</a:t>
            </a:r>
          </a:p>
          <a:p>
            <a:r>
              <a:rPr lang="en-US" dirty="0"/>
              <a:t>Tool use and environment interaction</a:t>
            </a:r>
          </a:p>
          <a:p>
            <a:r>
              <a:rPr lang="en-US" dirty="0"/>
              <a:t>Self-directed task completion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3503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0E14D-D7F1-4AC9-8E8F-3E99B0524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C6F4-D475-5873-8F15-BC3586B24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LLM vs Agent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6213E5-5A4E-C8BC-63D3-372FDC041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72166"/>
              </p:ext>
            </p:extLst>
          </p:nvPr>
        </p:nvGraphicFramePr>
        <p:xfrm>
          <a:off x="646176" y="1815878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11797196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299030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13764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LLM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242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Interaction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Single-turn response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Multi-step 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759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Decision Making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to response generation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Strategic planning &amp; 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696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Tool Use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direct tool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use external tools/APIs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289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Memory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Context window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 maintain state &amp;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38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Autonomy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Proactive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864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Goal Handling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Answers questions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Achieves objectives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534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0730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00E29F-3045-5A3A-6816-37505E11D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545"/>
            <a:ext cx="12037407" cy="564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15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5171B-CB71-7B44-5381-6BD235DE3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6BD06-5865-36A3-5234-187C1FDA6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Reasoning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E7FF7-9DE2-9F76-90CA-DD689E95A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Agents Think</a:t>
            </a:r>
            <a:endParaRPr lang="en-US" dirty="0"/>
          </a:p>
          <a:p>
            <a:r>
              <a:rPr lang="en-US" b="1" dirty="0"/>
              <a:t>The Reasoning Loop (</a:t>
            </a:r>
            <a:r>
              <a:rPr lang="en-US" b="1" dirty="0" err="1"/>
              <a:t>ReAct</a:t>
            </a:r>
            <a:r>
              <a:rPr lang="en-US" b="1" dirty="0"/>
              <a:t> Pattern)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2972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80906-1D2D-DFDD-5D96-1551D8C82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C3CF9-EC91-47E4-A712-3A381F8F1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Observe — Perceive current state and context</a:t>
            </a:r>
          </a:p>
          <a:p>
            <a:r>
              <a:rPr lang="en-US" dirty="0"/>
              <a:t>Think — Reason about what action to take</a:t>
            </a:r>
          </a:p>
          <a:p>
            <a:r>
              <a:rPr lang="en-US" dirty="0"/>
              <a:t>Act — Execute the chosen action</a:t>
            </a:r>
          </a:p>
          <a:p>
            <a:r>
              <a:rPr lang="en-US" dirty="0"/>
              <a:t>Reflect — Evaluate the outcome</a:t>
            </a:r>
          </a:p>
          <a:p>
            <a:r>
              <a:rPr lang="en-US" dirty="0"/>
              <a:t>Repeat — Continue until goal is achieved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065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30478-2126-B2CF-E0F4-043EACEF2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476A9-8BD3-F050-C2A7-4528FA704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Action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3A9BE-7B46-C089-92CA-C29290B88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From Thinking to Doing</a:t>
            </a:r>
            <a:endParaRPr lang="en-US" dirty="0"/>
          </a:p>
          <a:p>
            <a:r>
              <a:rPr lang="en-US" b="1" dirty="0"/>
              <a:t>Action Loop Components:</a:t>
            </a:r>
            <a:endParaRPr lang="en-US" dirty="0"/>
          </a:p>
          <a:p>
            <a:r>
              <a:rPr lang="en-US" b="1" dirty="0"/>
              <a:t>Planning Phase</a:t>
            </a:r>
            <a:endParaRPr lang="en-US" dirty="0"/>
          </a:p>
          <a:p>
            <a:r>
              <a:rPr lang="en-US" dirty="0"/>
              <a:t>Task decomposition</a:t>
            </a:r>
          </a:p>
          <a:p>
            <a:r>
              <a:rPr lang="en-US" dirty="0"/>
              <a:t>Strategy formulation</a:t>
            </a:r>
          </a:p>
          <a:p>
            <a:r>
              <a:rPr lang="en-US" dirty="0"/>
              <a:t>Resource identification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3585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F3D32-AFB0-2C46-421D-483125904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3005-3DA1-CCEA-8A70-3034AEE7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Action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9EDBE-427F-24B2-4CCC-27B2611A1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Execution Phase</a:t>
            </a:r>
            <a:endParaRPr lang="en-US" dirty="0"/>
          </a:p>
          <a:p>
            <a:r>
              <a:rPr lang="en-US" dirty="0"/>
              <a:t>Tool selection and invocation</a:t>
            </a:r>
          </a:p>
          <a:p>
            <a:r>
              <a:rPr lang="en-US" dirty="0"/>
              <a:t>API calls and integrations</a:t>
            </a:r>
          </a:p>
          <a:p>
            <a:r>
              <a:rPr lang="en-US" dirty="0"/>
              <a:t>Data retrieval and processing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6184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23C74-03C7-F5B1-7657-E7BFEC1E3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EAFE5-6129-DB5E-D7C2-B3DACF8DF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Action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8F061-A6AE-69A3-67F5-C929129D3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Verification Phase</a:t>
            </a:r>
            <a:endParaRPr lang="en-US" dirty="0"/>
          </a:p>
          <a:p>
            <a:r>
              <a:rPr lang="en-US" dirty="0"/>
              <a:t>Result validation</a:t>
            </a:r>
          </a:p>
          <a:p>
            <a:r>
              <a:rPr lang="en-US" dirty="0"/>
              <a:t>Error handling</a:t>
            </a:r>
          </a:p>
          <a:p>
            <a:r>
              <a:rPr lang="en-US" dirty="0"/>
              <a:t>Success criteria checking</a:t>
            </a:r>
          </a:p>
          <a:p>
            <a:r>
              <a:rPr lang="en-US" dirty="0"/>
              <a:t>Agents iterate through these phases until task completion or failure conditions are met.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262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F9ACD-CFF6-B265-7CAD-35D81FF3F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8A6B4-5023-1684-44DD-D8116C328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Autonomy in 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577D1-BFA0-BB15-98A6-EC0C0EDEA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Levels of Agent Autonomy</a:t>
            </a:r>
            <a:endParaRPr lang="en-IN" dirty="0"/>
          </a:p>
          <a:p>
            <a:r>
              <a:rPr lang="en-US" b="1" dirty="0"/>
              <a:t>Level 1: Assisted</a:t>
            </a:r>
            <a:endParaRPr lang="en-US" dirty="0"/>
          </a:p>
          <a:p>
            <a:r>
              <a:rPr lang="en-US" dirty="0"/>
              <a:t>Human approves each action</a:t>
            </a:r>
          </a:p>
          <a:p>
            <a:r>
              <a:rPr lang="en-US" dirty="0"/>
              <a:t>Agent suggests next steps.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1841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96963-C2CE-ED21-F24C-062CDF18F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BB4B1-5C43-FE22-5693-9E01DF8E2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Autonomy in 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49313-3AA0-FEE9-4181-620E461DF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Level 2: Semi-Autonomous</a:t>
            </a:r>
            <a:endParaRPr lang="en-US" dirty="0"/>
          </a:p>
          <a:p>
            <a:r>
              <a:rPr lang="en-US" dirty="0"/>
              <a:t>Agent executes routine tasks independently</a:t>
            </a:r>
          </a:p>
          <a:p>
            <a:r>
              <a:rPr lang="en-US" dirty="0"/>
              <a:t>Human intervention for critical decisions</a:t>
            </a:r>
          </a:p>
        </p:txBody>
      </p:sp>
    </p:spTree>
    <p:extLst>
      <p:ext uri="{BB962C8B-B14F-4D97-AF65-F5344CB8AC3E}">
        <p14:creationId xmlns:p14="http://schemas.microsoft.com/office/powerpoint/2010/main" val="2175179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211D2-197D-2F24-5626-76846C8A3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FC5B6-65A1-A474-1D1D-4E0734388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Autonomy in 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A8053-F05F-5730-A78C-5068A0082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Level 3: Fully Autonomous</a:t>
            </a:r>
            <a:endParaRPr lang="en-US" dirty="0"/>
          </a:p>
          <a:p>
            <a:r>
              <a:rPr lang="en-US" dirty="0"/>
              <a:t>End-to-end task completion</a:t>
            </a:r>
          </a:p>
          <a:p>
            <a:r>
              <a:rPr lang="en-US" dirty="0"/>
              <a:t>Self-correction and adaptation</a:t>
            </a:r>
          </a:p>
          <a:p>
            <a:r>
              <a:rPr lang="en-US" dirty="0"/>
              <a:t>Human oversight optional</a:t>
            </a:r>
          </a:p>
          <a:p>
            <a:r>
              <a:rPr lang="en-US" b="1" dirty="0"/>
              <a:t>Consideration:</a:t>
            </a:r>
            <a:r>
              <a:rPr lang="en-US" dirty="0"/>
              <a:t> Higher autonomy requires robust safety measures and guardrails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3080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AA5DF-E1F3-40C8-BA02-A59FB8300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7CCD8-DE26-746A-C2FB-E57A6837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Agents vs Chatbots vs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C8F58-3E14-D613-E831-1664089CB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Understanding the Spectrum</a:t>
            </a:r>
            <a:endParaRPr lang="en-US" dirty="0"/>
          </a:p>
          <a:p>
            <a:r>
              <a:rPr lang="en-US" b="1" dirty="0"/>
              <a:t>Chatbots</a:t>
            </a:r>
            <a:endParaRPr lang="en-US" dirty="0"/>
          </a:p>
          <a:p>
            <a:r>
              <a:rPr lang="en-US" dirty="0"/>
              <a:t>Conversational interface</a:t>
            </a:r>
          </a:p>
          <a:p>
            <a:r>
              <a:rPr lang="en-US" dirty="0"/>
              <a:t>Predefined response patterns or LLM-based</a:t>
            </a:r>
          </a:p>
          <a:p>
            <a:r>
              <a:rPr lang="en-US" dirty="0"/>
              <a:t>Limited context retention</a:t>
            </a:r>
          </a:p>
          <a:p>
            <a:r>
              <a:rPr lang="en-US" b="1" dirty="0"/>
              <a:t>Use case:</a:t>
            </a:r>
            <a:r>
              <a:rPr lang="en-US" dirty="0"/>
              <a:t> Customer support FAQs</a:t>
            </a:r>
          </a:p>
          <a:p>
            <a:r>
              <a:rPr lang="en-US" b="1" dirty="0"/>
              <a:t>RAG (Retrieval-Augmented Generation)</a:t>
            </a:r>
            <a:endParaRPr lang="en-US" dirty="0"/>
          </a:p>
          <a:p>
            <a:r>
              <a:rPr lang="en-US" dirty="0"/>
              <a:t>Combines LLM with information retrieval</a:t>
            </a:r>
          </a:p>
          <a:p>
            <a:r>
              <a:rPr lang="en-US" dirty="0"/>
              <a:t>Accesses knowledge base for grounded responses</a:t>
            </a:r>
          </a:p>
          <a:p>
            <a:r>
              <a:rPr lang="en-US" dirty="0"/>
              <a:t>No action-taking capability</a:t>
            </a:r>
          </a:p>
          <a:p>
            <a:r>
              <a:rPr lang="en-US" b="1" dirty="0"/>
              <a:t>Use case:</a:t>
            </a:r>
            <a:r>
              <a:rPr lang="en-US" dirty="0"/>
              <a:t> Document Q&amp;A systems</a:t>
            </a:r>
          </a:p>
          <a:p>
            <a:r>
              <a:rPr lang="en-US" b="1" dirty="0"/>
              <a:t>Agents</a:t>
            </a:r>
            <a:endParaRPr lang="en-US" dirty="0"/>
          </a:p>
          <a:p>
            <a:r>
              <a:rPr lang="en-US" dirty="0"/>
              <a:t>Goal-oriented task execution</a:t>
            </a:r>
          </a:p>
          <a:p>
            <a:r>
              <a:rPr lang="en-US" dirty="0"/>
              <a:t>Tool use and API integration</a:t>
            </a:r>
          </a:p>
          <a:p>
            <a:r>
              <a:rPr lang="en-US" dirty="0"/>
              <a:t>Multi-step planning and reasoning</a:t>
            </a:r>
          </a:p>
          <a:p>
            <a:r>
              <a:rPr lang="en-US" b="1" dirty="0"/>
              <a:t>Use case:</a:t>
            </a:r>
            <a:r>
              <a:rPr lang="en-US" dirty="0"/>
              <a:t> Automating workflows, data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8943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D41D-EE92-5660-F8EC-7513685CB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29C85-C545-8542-CA7A-6596ABBC9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to Use 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25226-ECA2-CE2C-57B4-FFBF5CECA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Use Chatbots when:</a:t>
            </a:r>
            <a:endParaRPr lang="en-US" dirty="0"/>
          </a:p>
          <a:p>
            <a:r>
              <a:rPr lang="en-US" dirty="0"/>
              <a:t>Simple Q&amp;A interactions</a:t>
            </a:r>
          </a:p>
          <a:p>
            <a:r>
              <a:rPr lang="en-US" dirty="0"/>
              <a:t>Predetermined conversation flows</a:t>
            </a:r>
          </a:p>
          <a:p>
            <a:r>
              <a:rPr lang="en-US" dirty="0"/>
              <a:t>No external actions needed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2728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E16FE-B8C9-5C11-4F0D-22481DB36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285FF-6317-D793-974D-6D5781A72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to Use 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8D995-1AAA-42E5-6F61-1490B6915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Use RAG when:</a:t>
            </a:r>
            <a:endParaRPr lang="en-US" dirty="0"/>
          </a:p>
          <a:p>
            <a:r>
              <a:rPr lang="en-US" dirty="0"/>
              <a:t>Need accurate, grounded information</a:t>
            </a:r>
          </a:p>
          <a:p>
            <a:r>
              <a:rPr lang="en-US" dirty="0"/>
              <a:t>Working with large knowledge bases</a:t>
            </a:r>
          </a:p>
          <a:p>
            <a:r>
              <a:rPr lang="en-US" dirty="0"/>
              <a:t>Reducing hallucinations is critical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02412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65E94-24BC-0111-3F6B-4CC027D2A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8D10B-D88A-10B8-1DF9-B0FF0B49E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to Use 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9A2D4-43ED-A47F-C983-27BC84876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Use Agents when:</a:t>
            </a:r>
            <a:endParaRPr lang="en-US" dirty="0"/>
          </a:p>
          <a:p>
            <a:r>
              <a:rPr lang="en-US" dirty="0"/>
              <a:t>Complex, multi-step tasks</a:t>
            </a:r>
          </a:p>
          <a:p>
            <a:r>
              <a:rPr lang="en-US" dirty="0"/>
              <a:t>Need to interact with external tools</a:t>
            </a:r>
          </a:p>
          <a:p>
            <a:r>
              <a:rPr lang="en-US" dirty="0"/>
              <a:t>Require autonomous decision-making</a:t>
            </a:r>
          </a:p>
          <a:p>
            <a:r>
              <a:rPr lang="en-US" dirty="0"/>
              <a:t>Task decomposition is necessary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8504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E646E-B910-10BA-35D2-C5679B01B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Agentic AI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2370751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B2691-AF6F-5B74-A394-089666C25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CDD8B-796E-93C6-5001-2735E2AD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Agent Architecture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C52EF-F640-E125-31EB-2F4089B2B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Standalone Worker</a:t>
            </a:r>
          </a:p>
          <a:p>
            <a:r>
              <a:rPr lang="en-US" dirty="0"/>
              <a:t>Structure:</a:t>
            </a:r>
          </a:p>
          <a:p>
            <a:r>
              <a:rPr lang="en-US" dirty="0"/>
              <a:t>User Input → Agent (LLM + Tools + Memory) → Output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2499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0891D-ACFB-6495-6A05-C891DCC7F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Characteristics: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9C9F3-369C-7BEA-39E6-10104C07F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agent handles the entire workflow</a:t>
            </a:r>
          </a:p>
          <a:p>
            <a:r>
              <a:rPr lang="en-US" dirty="0"/>
              <a:t>Direct tool access</a:t>
            </a:r>
          </a:p>
          <a:p>
            <a:r>
              <a:rPr lang="en-US" dirty="0"/>
              <a:t>Simpler to implement and debug</a:t>
            </a:r>
          </a:p>
          <a:p>
            <a:r>
              <a:rPr lang="en-US" dirty="0"/>
              <a:t>Limited by single LLM's capabilities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70495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076EB-2BEF-E8D7-EFB3-846A35C7B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Multi-Agent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7120F-5014-C2B0-15A7-746953734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Collaboration and Specialization</a:t>
            </a:r>
            <a:endParaRPr lang="en-IN" dirty="0"/>
          </a:p>
          <a:p>
            <a:r>
              <a:rPr lang="en-IN" b="1" dirty="0"/>
              <a:t>Structure:</a:t>
            </a:r>
            <a:endParaRPr lang="en-IN" dirty="0"/>
          </a:p>
          <a:p>
            <a:r>
              <a:rPr lang="en-IN" dirty="0"/>
              <a:t>User Input → Agent 1 (Specialist) ↔ Agent 2 (Specialist) ↔ Agent 3 (Specialist) → Output</a:t>
            </a:r>
          </a:p>
        </p:txBody>
      </p:sp>
    </p:spTree>
    <p:extLst>
      <p:ext uri="{BB962C8B-B14F-4D97-AF65-F5344CB8AC3E}">
        <p14:creationId xmlns:p14="http://schemas.microsoft.com/office/powerpoint/2010/main" val="8202053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A2C4E-ECA9-27CE-29BD-CD5C1501F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Multi-Agent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7306A-252B-9685-E3CC-E542556A4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Characteristics:</a:t>
            </a:r>
            <a:endParaRPr lang="en-IN" dirty="0"/>
          </a:p>
          <a:p>
            <a:r>
              <a:rPr lang="en-US" dirty="0"/>
              <a:t>Each agent has specialized capabilities</a:t>
            </a:r>
          </a:p>
          <a:p>
            <a:r>
              <a:rPr lang="en-US" dirty="0"/>
              <a:t>Agents communicate and collaborate</a:t>
            </a:r>
          </a:p>
          <a:p>
            <a:r>
              <a:rPr lang="en-US" dirty="0"/>
              <a:t>Parallel processing possible</a:t>
            </a:r>
          </a:p>
          <a:p>
            <a:r>
              <a:rPr lang="en-US" dirty="0"/>
              <a:t>More complex orchestration</a:t>
            </a:r>
          </a:p>
          <a:p>
            <a:r>
              <a:rPr lang="en-IN" b="1" dirty="0"/>
              <a:t>Best for:</a:t>
            </a:r>
            <a:endParaRPr lang="en-IN" dirty="0"/>
          </a:p>
          <a:p>
            <a:r>
              <a:rPr lang="en-US" dirty="0"/>
              <a:t>Complex, multi-domain problems</a:t>
            </a:r>
          </a:p>
          <a:p>
            <a:r>
              <a:rPr lang="en-US" dirty="0"/>
              <a:t>Tasks requiring different expertise</a:t>
            </a:r>
          </a:p>
          <a:p>
            <a:r>
              <a:rPr lang="en-US" dirty="0"/>
              <a:t>Scenarios benefiting from parallel work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9853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0DC2C-E388-0A0A-9B44-2F522D609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Supervisor/Worker Architecture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F117B-A4D4-8F41-0CCE-EFD8020E0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Hierarchical Task Management</a:t>
            </a:r>
            <a:r>
              <a:rPr lang="en-US" dirty="0"/>
              <a:t>  </a:t>
            </a:r>
            <a:r>
              <a:rPr lang="en-US" b="1" dirty="0"/>
              <a:t>Structure:</a:t>
            </a:r>
          </a:p>
          <a:p>
            <a:r>
              <a:rPr lang="en-US" dirty="0"/>
              <a:t>User Input → Supervisor Agent</a:t>
            </a:r>
          </a:p>
          <a:p>
            <a:r>
              <a:rPr lang="en-US" dirty="0"/>
              <a:t>                ├→ Worker Agent 1</a:t>
            </a:r>
          </a:p>
          <a:p>
            <a:r>
              <a:rPr lang="en-US" dirty="0"/>
              <a:t>                ├→ Worker Agent 2</a:t>
            </a:r>
          </a:p>
          <a:p>
            <a:r>
              <a:rPr lang="en-US" dirty="0"/>
              <a:t>                └→ Worker Agent 3</a:t>
            </a:r>
          </a:p>
          <a:p>
            <a:r>
              <a:rPr lang="en-US" dirty="0"/>
              <a:t>             → Aggregated Output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73949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2C185-D896-687E-FB4C-97AE3FB59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Supervisor/Worker Architecture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F12A1-4C09-F8FF-1AB5-0648432E6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Characteristics:</a:t>
            </a:r>
            <a:endParaRPr lang="en-US" dirty="0"/>
          </a:p>
          <a:p>
            <a:r>
              <a:rPr lang="en-US" dirty="0"/>
              <a:t>Supervisor delegates and coordinates</a:t>
            </a:r>
          </a:p>
          <a:p>
            <a:r>
              <a:rPr lang="en-US" dirty="0"/>
              <a:t>Workers execute specific subtasks</a:t>
            </a:r>
          </a:p>
          <a:p>
            <a:r>
              <a:rPr lang="en-US" dirty="0"/>
              <a:t>Clear hierarchy and responsibility</a:t>
            </a:r>
          </a:p>
          <a:p>
            <a:r>
              <a:rPr lang="en-US" dirty="0"/>
              <a:t>Supervisor synthesizes results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0029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3C737-2073-221F-13BC-4D5C20F97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AA1047-6B4E-D63F-612D-4E0171EDDA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7504976"/>
              </p:ext>
            </p:extLst>
          </p:nvPr>
        </p:nvGraphicFramePr>
        <p:xfrm>
          <a:off x="838200" y="1843310"/>
          <a:ext cx="10515600" cy="20116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88577797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611355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127739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177296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Architecture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229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Single Agent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workflows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647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Multi-Agent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Complex, collaborative tasks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318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Supervisor/Worker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Hierarchical, divisible tasks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131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591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F5DF0-091B-CF90-D14E-649ABE582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Decision Factors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E9521-8360-B359-7848-B90D5109F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 complexity and divisibility</a:t>
            </a:r>
          </a:p>
          <a:p>
            <a:r>
              <a:rPr lang="en-US" dirty="0"/>
              <a:t>Need for specialization</a:t>
            </a:r>
          </a:p>
          <a:p>
            <a:r>
              <a:rPr lang="en-US" dirty="0"/>
              <a:t>Coordination requirements</a:t>
            </a:r>
          </a:p>
          <a:p>
            <a:r>
              <a:rPr lang="en-US" dirty="0"/>
              <a:t>Development resources available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98969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EF834-29E5-7B04-F416-5EE1C61DB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Calculator Agent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DB4CA-3D41-F0C3-948D-7DAD1522D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Building Your First Agent</a:t>
            </a:r>
            <a:endParaRPr lang="en-US" dirty="0"/>
          </a:p>
          <a:p>
            <a:r>
              <a:rPr lang="en-US" b="1" dirty="0"/>
              <a:t>Objective:</a:t>
            </a:r>
            <a:r>
              <a:rPr lang="en-US" dirty="0"/>
              <a:t> Create an agent that can perform mathematical calculations using a calculator tool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51362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23676-69E9-273B-E376-073056686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Calculator Agent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CD535-6248-3F82-BC01-3AA3D4DF8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Agent Flow:</a:t>
            </a:r>
          </a:p>
          <a:p>
            <a:r>
              <a:rPr lang="en-US" dirty="0"/>
              <a:t>User Query → Agent analyzes → Selects tool → Executes calculation → Returns result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82866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C25E6-CC36-2F4F-CC13-2E407E32C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Calculator Agent -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10B35-6DF9-EFC2-67E5-7400DBCB0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Architecture Breakdown</a:t>
            </a:r>
            <a:endParaRPr lang="en-IN" dirty="0"/>
          </a:p>
          <a:p>
            <a:r>
              <a:rPr lang="en-IN" b="1" dirty="0"/>
              <a:t>Component 1: LLM Core</a:t>
            </a:r>
            <a:endParaRPr lang="en-IN" dirty="0"/>
          </a:p>
          <a:p>
            <a:r>
              <a:rPr lang="en-IN" dirty="0"/>
              <a:t>Understands natural language math queries</a:t>
            </a:r>
          </a:p>
          <a:p>
            <a:r>
              <a:rPr lang="en-IN" dirty="0"/>
              <a:t>Decides when to use calculator tool</a:t>
            </a:r>
          </a:p>
          <a:p>
            <a:r>
              <a:rPr lang="en-IN" dirty="0"/>
              <a:t>Formats responses</a:t>
            </a:r>
          </a:p>
          <a:p>
            <a:r>
              <a:rPr lang="en-IN" b="1" dirty="0"/>
              <a:t>Component 2: Calculator Tool</a:t>
            </a:r>
            <a:endParaRPr lang="en-IN" dirty="0"/>
          </a:p>
          <a:p>
            <a:r>
              <a:rPr lang="en-IN" dirty="0"/>
              <a:t>Performs arithmetic operations</a:t>
            </a:r>
          </a:p>
          <a:p>
            <a:r>
              <a:rPr lang="en-IN" dirty="0"/>
              <a:t>Handles various mathematical functions</a:t>
            </a:r>
          </a:p>
          <a:p>
            <a:r>
              <a:rPr lang="en-IN" dirty="0"/>
              <a:t>Returns computed results</a:t>
            </a:r>
          </a:p>
          <a:p>
            <a:r>
              <a:rPr lang="en-IN" b="1" dirty="0"/>
              <a:t>Component 3: Agent Logic</a:t>
            </a:r>
            <a:endParaRPr lang="en-IN" dirty="0"/>
          </a:p>
          <a:p>
            <a:r>
              <a:rPr lang="en-IN" dirty="0"/>
              <a:t>Reasoning loop implementation</a:t>
            </a:r>
          </a:p>
          <a:p>
            <a:r>
              <a:rPr lang="en-IN" dirty="0"/>
              <a:t>Tool selection and invocation</a:t>
            </a:r>
          </a:p>
          <a:p>
            <a:r>
              <a:rPr lang="en-IN" dirty="0"/>
              <a:t>Response generation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41787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23642-28C1-5EB1-E95E-6463FA92F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Calculator Agent - Implementation Steps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F660E-7035-24AE-72D7-162B0C7B9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Building the Agent</a:t>
            </a:r>
            <a:endParaRPr lang="en-US" dirty="0"/>
          </a:p>
          <a:p>
            <a:r>
              <a:rPr lang="en-US" b="1" dirty="0"/>
              <a:t>Step 1:</a:t>
            </a:r>
            <a:r>
              <a:rPr lang="en-US" dirty="0"/>
              <a:t> Define the calculator tool</a:t>
            </a:r>
          </a:p>
          <a:p>
            <a:r>
              <a:rPr lang="en-US" dirty="0"/>
              <a:t>Functions: add, subtract, multiply, divide, power, square root</a:t>
            </a:r>
          </a:p>
          <a:p>
            <a:r>
              <a:rPr lang="en-US" dirty="0"/>
              <a:t>Input validation</a:t>
            </a:r>
          </a:p>
          <a:p>
            <a:r>
              <a:rPr lang="en-US" dirty="0"/>
              <a:t>Error handling</a:t>
            </a:r>
          </a:p>
          <a:p>
            <a:r>
              <a:rPr lang="en-US" b="1" dirty="0"/>
              <a:t>Step 2:</a:t>
            </a:r>
            <a:r>
              <a:rPr lang="en-US" dirty="0"/>
              <a:t> Create the agent prompt</a:t>
            </a:r>
          </a:p>
          <a:p>
            <a:r>
              <a:rPr lang="en-US" dirty="0"/>
              <a:t>System instructions</a:t>
            </a:r>
          </a:p>
          <a:p>
            <a:r>
              <a:rPr lang="en-US" dirty="0"/>
              <a:t>Tool description and usage</a:t>
            </a:r>
          </a:p>
          <a:p>
            <a:r>
              <a:rPr lang="en-US" dirty="0"/>
              <a:t>Output format specification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27870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680EA-7AD6-AFDE-115D-D85F1831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F94D9-ABAA-EFC7-610C-9BD23A47A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Calculator Agent - Implementation 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07C89-6ACA-8464-338F-45D772635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Step 3:</a:t>
            </a:r>
            <a:r>
              <a:rPr lang="en-US" dirty="0"/>
              <a:t> Implement the reasoning loop</a:t>
            </a:r>
          </a:p>
          <a:p>
            <a:r>
              <a:rPr lang="en-US" dirty="0"/>
              <a:t>Parse user query</a:t>
            </a:r>
          </a:p>
          <a:p>
            <a:r>
              <a:rPr lang="en-US" dirty="0"/>
              <a:t>Determine if calculation is needed</a:t>
            </a:r>
          </a:p>
          <a:p>
            <a:r>
              <a:rPr lang="en-US" dirty="0"/>
              <a:t>Invoke tool with parameters</a:t>
            </a:r>
          </a:p>
          <a:p>
            <a:r>
              <a:rPr lang="en-US" dirty="0"/>
              <a:t>Return formatted result</a:t>
            </a:r>
          </a:p>
          <a:p>
            <a:endParaRPr lang="en-US" dirty="0"/>
          </a:p>
          <a:p>
            <a:r>
              <a:rPr lang="en-US" b="1" dirty="0"/>
              <a:t>Step 4:</a:t>
            </a:r>
            <a:r>
              <a:rPr lang="en-US" dirty="0"/>
              <a:t> Test and refine</a:t>
            </a:r>
          </a:p>
          <a:p>
            <a:r>
              <a:rPr lang="en-US" dirty="0"/>
              <a:t>Edge cases (division by zero, invalid input)</a:t>
            </a:r>
          </a:p>
          <a:p>
            <a:r>
              <a:rPr lang="en-US" dirty="0"/>
              <a:t>Complex queries (multiple operations)</a:t>
            </a:r>
          </a:p>
          <a:p>
            <a:r>
              <a:rPr lang="en-US" dirty="0"/>
              <a:t>Natural language variations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44511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B4891-D8EB-0277-73F3-B6AA051B9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39B67-9DE9-3223-FC88-271BFC58A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Calculator Agent - Code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2C658-8550-9DDD-CF31-873ABEDB8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Tool Definition:</a:t>
            </a:r>
          </a:p>
          <a:p>
            <a:pPr marL="0" indent="0">
              <a:buNone/>
            </a:pPr>
            <a:r>
              <a:rPr lang="en-IN" dirty="0" err="1"/>
              <a:t>calculator_tool</a:t>
            </a:r>
            <a:r>
              <a:rPr lang="en-IN" dirty="0"/>
              <a:t> = {</a:t>
            </a:r>
          </a:p>
          <a:p>
            <a:pPr marL="0" indent="0">
              <a:buNone/>
            </a:pPr>
            <a:r>
              <a:rPr lang="en-IN" dirty="0"/>
              <a:t>    "name": "calculator",</a:t>
            </a:r>
          </a:p>
          <a:p>
            <a:pPr marL="0" indent="0">
              <a:buNone/>
            </a:pPr>
            <a:r>
              <a:rPr lang="en-IN" dirty="0"/>
              <a:t>    "description": "Performs mathematical calculations",</a:t>
            </a:r>
          </a:p>
          <a:p>
            <a:pPr marL="0" indent="0">
              <a:buNone/>
            </a:pPr>
            <a:r>
              <a:rPr lang="en-IN" dirty="0"/>
              <a:t>    "parameters": {</a:t>
            </a:r>
          </a:p>
          <a:p>
            <a:pPr marL="0" indent="0">
              <a:buNone/>
            </a:pPr>
            <a:r>
              <a:rPr lang="en-IN" dirty="0"/>
              <a:t>        "operation": "</a:t>
            </a:r>
            <a:r>
              <a:rPr lang="en-IN" dirty="0" err="1"/>
              <a:t>add|subtract|multiply|divide</a:t>
            </a:r>
            <a:r>
              <a:rPr lang="en-IN" dirty="0"/>
              <a:t>",</a:t>
            </a:r>
          </a:p>
          <a:p>
            <a:pPr marL="0" indent="0">
              <a:buNone/>
            </a:pPr>
            <a:r>
              <a:rPr lang="en-IN" dirty="0"/>
              <a:t>        "operands": [numbers]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217266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C0FA4-8A91-40E2-B456-E849937C3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 Loop: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EC825-98DF-C7F4-B44F-53C382229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Receive user input</a:t>
            </a:r>
          </a:p>
          <a:p>
            <a:r>
              <a:rPr lang="en-US" dirty="0"/>
              <a:t>Generate reasoning with LLM</a:t>
            </a:r>
          </a:p>
          <a:p>
            <a:r>
              <a:rPr lang="en-US" dirty="0"/>
              <a:t>Extract tool call if needed</a:t>
            </a:r>
          </a:p>
          <a:p>
            <a:r>
              <a:rPr lang="en-US" dirty="0"/>
              <a:t>Execute tool function</a:t>
            </a:r>
          </a:p>
          <a:p>
            <a:r>
              <a:rPr lang="en-US" dirty="0"/>
              <a:t>Return result to LLM for final response</a:t>
            </a:r>
          </a:p>
          <a:p>
            <a:r>
              <a:rPr lang="en-US" dirty="0"/>
              <a:t>Present answer to user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12199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428C7-4EAD-218D-5DC4-1FBB8C1C1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We Learned Today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2F2B8-8AAD-C659-7195-678367E35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Foundations:</a:t>
            </a:r>
            <a:endParaRPr lang="en-US" dirty="0"/>
          </a:p>
          <a:p>
            <a:r>
              <a:rPr lang="en-US" dirty="0"/>
              <a:t>Agentic AI = autonomous, goal-oriented systems</a:t>
            </a:r>
          </a:p>
          <a:p>
            <a:r>
              <a:rPr lang="en-US" dirty="0"/>
              <a:t>Agents use reasoning and action loops</a:t>
            </a:r>
          </a:p>
          <a:p>
            <a:r>
              <a:rPr lang="en-US" dirty="0"/>
              <a:t>Different from chatbots and RAG systems</a:t>
            </a:r>
          </a:p>
          <a:p>
            <a:r>
              <a:rPr lang="en-US" b="1" dirty="0"/>
              <a:t>Architectures:</a:t>
            </a:r>
            <a:endParaRPr lang="en-US" dirty="0"/>
          </a:p>
          <a:p>
            <a:r>
              <a:rPr lang="en-US" dirty="0"/>
              <a:t>Single Agent: Simple, focused tasks</a:t>
            </a:r>
          </a:p>
          <a:p>
            <a:r>
              <a:rPr lang="en-US" dirty="0"/>
              <a:t>Multi-Agent: Collaborative, specialized</a:t>
            </a:r>
          </a:p>
          <a:p>
            <a:r>
              <a:rPr lang="en-US" dirty="0"/>
              <a:t>Supervisor/Worker: Hierarchical coordination</a:t>
            </a:r>
          </a:p>
          <a:p>
            <a:r>
              <a:rPr lang="en-US" b="1" dirty="0"/>
              <a:t>Practical Skills:</a:t>
            </a:r>
            <a:endParaRPr lang="en-US" dirty="0"/>
          </a:p>
          <a:p>
            <a:r>
              <a:rPr lang="en-US" dirty="0"/>
              <a:t>Built a functional calculator agent</a:t>
            </a:r>
          </a:p>
          <a:p>
            <a:r>
              <a:rPr lang="en-US" dirty="0"/>
              <a:t>Understood tool integration</a:t>
            </a:r>
          </a:p>
          <a:p>
            <a:r>
              <a:rPr lang="en-US" dirty="0"/>
              <a:t>Implemented reasoning loops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64370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17049-7D8C-BE94-EA47-4F8632544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80A64-F00C-B2B1-55E6-E61006724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43166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### End of Day1 ###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5150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</TotalTime>
  <Words>1183</Words>
  <Application>Microsoft Office PowerPoint</Application>
  <PresentationFormat>Widescreen</PresentationFormat>
  <Paragraphs>304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Calibri Light</vt:lpstr>
      <vt:lpstr>Office Theme</vt:lpstr>
      <vt:lpstr>Agentic AI</vt:lpstr>
      <vt:lpstr> What We'll Cover Today </vt:lpstr>
      <vt:lpstr>Part 1: Foundations of Agentic AI </vt:lpstr>
      <vt:lpstr>What is Agentic AI?</vt:lpstr>
      <vt:lpstr>Key Characteristics </vt:lpstr>
      <vt:lpstr>Core Agentic AI Terms </vt:lpstr>
      <vt:lpstr>Agentic Workflow </vt:lpstr>
      <vt:lpstr>The Evolution to Agents</vt:lpstr>
      <vt:lpstr>The Evolution to Agents</vt:lpstr>
      <vt:lpstr>The Evolution to Agents</vt:lpstr>
      <vt:lpstr>LLM vs Agent</vt:lpstr>
      <vt:lpstr>PowerPoint Presentation</vt:lpstr>
      <vt:lpstr>Reasoning Loops</vt:lpstr>
      <vt:lpstr>PowerPoint Presentation</vt:lpstr>
      <vt:lpstr>Action Loops</vt:lpstr>
      <vt:lpstr>Action Loops</vt:lpstr>
      <vt:lpstr>Action Loops</vt:lpstr>
      <vt:lpstr>Autonomy in Agentic AI</vt:lpstr>
      <vt:lpstr>Autonomy in Agentic AI</vt:lpstr>
      <vt:lpstr>Autonomy in Agentic AI</vt:lpstr>
      <vt:lpstr>Agents vs Chatbots vs RAG</vt:lpstr>
      <vt:lpstr>When to Use What?</vt:lpstr>
      <vt:lpstr>When to Use What?</vt:lpstr>
      <vt:lpstr>When to Use What?</vt:lpstr>
      <vt:lpstr>Agentic AI Architectures</vt:lpstr>
      <vt:lpstr>Single Agent Architecture </vt:lpstr>
      <vt:lpstr>Characteristics: </vt:lpstr>
      <vt:lpstr>Multi-Agent Architecture</vt:lpstr>
      <vt:lpstr>Multi-Agent Architecture</vt:lpstr>
      <vt:lpstr>Supervisor/Worker Architecture </vt:lpstr>
      <vt:lpstr>Supervisor/Worker Architecture </vt:lpstr>
      <vt:lpstr>Architecture Comparison</vt:lpstr>
      <vt:lpstr>Decision Factors </vt:lpstr>
      <vt:lpstr>Calculator Agent Overview</vt:lpstr>
      <vt:lpstr>Calculator Agent Overview</vt:lpstr>
      <vt:lpstr>Calculator Agent - Components</vt:lpstr>
      <vt:lpstr>Calculator Agent - Implementation Steps </vt:lpstr>
      <vt:lpstr>Calculator Agent - Implementation Steps</vt:lpstr>
      <vt:lpstr>Calculator Agent - Code Structure</vt:lpstr>
      <vt:lpstr>Agent Loop:</vt:lpstr>
      <vt:lpstr>What We Learned Today </vt:lpstr>
      <vt:lpstr>### End of Day1 ###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Palani Karthikeyan</dc:creator>
  <cp:lastModifiedBy>Palani Karthikeyan</cp:lastModifiedBy>
  <cp:revision>7</cp:revision>
  <dcterms:created xsi:type="dcterms:W3CDTF">2026-01-31T16:42:23Z</dcterms:created>
  <dcterms:modified xsi:type="dcterms:W3CDTF">2026-02-02T12:11:45Z</dcterms:modified>
</cp:coreProperties>
</file>